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9" r:id="rId13"/>
    <p:sldId id="270" r:id="rId14"/>
    <p:sldId id="271" r:id="rId15"/>
    <p:sldId id="266" r:id="rId16"/>
    <p:sldId id="267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vanth Peethala" userId="7a831c6410b8d13f" providerId="LiveId" clId="{87F5CF77-EF0C-4719-8825-5543C0E3E865}"/>
    <pc:docChg chg="modSld">
      <pc:chgData name="Revanth Peethala" userId="7a831c6410b8d13f" providerId="LiveId" clId="{87F5CF77-EF0C-4719-8825-5543C0E3E865}" dt="2026-07-10T11:38:46.411" v="22" actId="20577"/>
      <pc:docMkLst>
        <pc:docMk/>
      </pc:docMkLst>
      <pc:sldChg chg="addSp modSp mod">
        <pc:chgData name="Revanth Peethala" userId="7a831c6410b8d13f" providerId="LiveId" clId="{87F5CF77-EF0C-4719-8825-5543C0E3E865}" dt="2026-07-10T11:34:34.837" v="6" actId="255"/>
        <pc:sldMkLst>
          <pc:docMk/>
          <pc:sldMk cId="0" sldId="257"/>
        </pc:sldMkLst>
        <pc:spChg chg="add mod">
          <ac:chgData name="Revanth Peethala" userId="7a831c6410b8d13f" providerId="LiveId" clId="{87F5CF77-EF0C-4719-8825-5543C0E3E865}" dt="2026-07-10T11:34:34.837" v="6" actId="255"/>
          <ac:spMkLst>
            <pc:docMk/>
            <pc:sldMk cId="0" sldId="257"/>
            <ac:spMk id="5" creationId="{D9603B89-FD24-9C3C-79DD-71BE741BC417}"/>
          </ac:spMkLst>
        </pc:spChg>
      </pc:sldChg>
      <pc:sldChg chg="modSp mod">
        <pc:chgData name="Revanth Peethala" userId="7a831c6410b8d13f" providerId="LiveId" clId="{87F5CF77-EF0C-4719-8825-5543C0E3E865}" dt="2026-07-10T11:36:10.373" v="8" actId="14100"/>
        <pc:sldMkLst>
          <pc:docMk/>
          <pc:sldMk cId="0" sldId="259"/>
        </pc:sldMkLst>
        <pc:grpChg chg="mod">
          <ac:chgData name="Revanth Peethala" userId="7a831c6410b8d13f" providerId="LiveId" clId="{87F5CF77-EF0C-4719-8825-5543C0E3E865}" dt="2026-07-10T11:36:10.373" v="8" actId="14100"/>
          <ac:grpSpMkLst>
            <pc:docMk/>
            <pc:sldMk cId="0" sldId="259"/>
            <ac:grpSpMk id="4" creationId="{3A73D021-FE9C-C340-2990-4F537CC18B1A}"/>
          </ac:grpSpMkLst>
        </pc:grpChg>
      </pc:sldChg>
      <pc:sldChg chg="addSp modSp mod">
        <pc:chgData name="Revanth Peethala" userId="7a831c6410b8d13f" providerId="LiveId" clId="{87F5CF77-EF0C-4719-8825-5543C0E3E865}" dt="2026-07-10T11:38:28.525" v="16" actId="1076"/>
        <pc:sldMkLst>
          <pc:docMk/>
          <pc:sldMk cId="2954098693" sldId="270"/>
        </pc:sldMkLst>
        <pc:spChg chg="add mod">
          <ac:chgData name="Revanth Peethala" userId="7a831c6410b8d13f" providerId="LiveId" clId="{87F5CF77-EF0C-4719-8825-5543C0E3E865}" dt="2026-07-10T11:38:28.525" v="16" actId="1076"/>
          <ac:spMkLst>
            <pc:docMk/>
            <pc:sldMk cId="2954098693" sldId="270"/>
            <ac:spMk id="4" creationId="{22E9CEA6-2E08-5D8F-52B4-DE48051C75E7}"/>
          </ac:spMkLst>
        </pc:spChg>
        <pc:picChg chg="mod">
          <ac:chgData name="Revanth Peethala" userId="7a831c6410b8d13f" providerId="LiveId" clId="{87F5CF77-EF0C-4719-8825-5543C0E3E865}" dt="2026-07-10T11:37:38.712" v="9" actId="1076"/>
          <ac:picMkLst>
            <pc:docMk/>
            <pc:sldMk cId="2954098693" sldId="270"/>
            <ac:picMk id="3" creationId="{01D47164-F34C-F116-3849-0A091679E807}"/>
          </ac:picMkLst>
        </pc:picChg>
      </pc:sldChg>
      <pc:sldChg chg="modSp mod">
        <pc:chgData name="Revanth Peethala" userId="7a831c6410b8d13f" providerId="LiveId" clId="{87F5CF77-EF0C-4719-8825-5543C0E3E865}" dt="2026-07-10T11:38:46.411" v="22" actId="20577"/>
        <pc:sldMkLst>
          <pc:docMk/>
          <pc:sldMk cId="4110791742" sldId="272"/>
        </pc:sldMkLst>
        <pc:spChg chg="mod">
          <ac:chgData name="Revanth Peethala" userId="7a831c6410b8d13f" providerId="LiveId" clId="{87F5CF77-EF0C-4719-8825-5543C0E3E865}" dt="2026-07-10T11:38:46.411" v="22" actId="20577"/>
          <ac:spMkLst>
            <pc:docMk/>
            <pc:sldMk cId="4110791742" sldId="272"/>
            <ac:spMk id="3" creationId="{237B51E6-11F2-43F3-81F9-38EA660B828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828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5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25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00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771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71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784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915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0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9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6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95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995947"/>
            <a:ext cx="6593681" cy="782177"/>
          </a:xfrm>
        </p:spPr>
        <p:txBody>
          <a:bodyPr>
            <a:normAutofit/>
          </a:bodyPr>
          <a:lstStyle/>
          <a:p>
            <a:r>
              <a:rPr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Bluestock Fintech Capstone Project</a:t>
            </a:r>
          </a:p>
          <a:p>
            <a:r>
              <a:rPr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</a:t>
            </a:r>
            <a:r>
              <a:rPr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Peethala Revanth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10" y="1921021"/>
            <a:ext cx="8249264" cy="431846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Investors face difficulty comparing mutual fund schemes across different fund houses and categories.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Mutual fund information is distributed across multiple sources, making analysis time-consuming.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Evaluating returns, risk, expense ratios, and portfolio performance manually is challenging.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unified analytics platform is required to provide data-driven investment insights.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03B89-FD24-9C3C-79DD-71BE741BC417}"/>
              </a:ext>
            </a:extLst>
          </p:cNvPr>
          <p:cNvSpPr txBox="1"/>
          <p:nvPr/>
        </p:nvSpPr>
        <p:spPr>
          <a:xfrm>
            <a:off x="373626" y="5296939"/>
            <a:ext cx="83967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Solution: </a:t>
            </a:r>
            <a:r>
              <a:rPr lang="en-IN" sz="2000" dirty="0"/>
              <a:t>Developed an end-to-end Mutual Fund Analytics Platform using Python, SQLite, SQL,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222090"/>
            <a:ext cx="7543801" cy="364700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Develop an end-to-end Mutual Fund Analytics Platform.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Automate data ingestion and data cleaning.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Perform Exploratory Data Analysis (EDA).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Evaluate mutual fund performance using financial metrics.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Build an interactive Power BI dashboard.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Support data-driven investment decisions.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Project Architecture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73D021-FE9C-C340-2990-4F537CC18B1A}"/>
              </a:ext>
            </a:extLst>
          </p:cNvPr>
          <p:cNvGrpSpPr/>
          <p:nvPr/>
        </p:nvGrpSpPr>
        <p:grpSpPr>
          <a:xfrm>
            <a:off x="3335020" y="1972083"/>
            <a:ext cx="2519680" cy="4173077"/>
            <a:chOff x="0" y="0"/>
            <a:chExt cx="2520000" cy="6533707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08A827-96A7-63B6-5293-23C3E5520ED2}"/>
                </a:ext>
              </a:extLst>
            </p:cNvPr>
            <p:cNvSpPr/>
            <p:nvPr/>
          </p:nvSpPr>
          <p:spPr>
            <a:xfrm>
              <a:off x="0" y="733647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Data Ingestion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25CF9B1-4A5B-1301-16E4-B50D67022435}"/>
                </a:ext>
              </a:extLst>
            </p:cNvPr>
            <p:cNvSpPr/>
            <p:nvPr/>
          </p:nvSpPr>
          <p:spPr>
            <a:xfrm>
              <a:off x="0" y="1435396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Data Cleaning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F7E52B9-6E38-65E2-3BFB-C29B4042DABB}"/>
                </a:ext>
              </a:extLst>
            </p:cNvPr>
            <p:cNvSpPr/>
            <p:nvPr/>
          </p:nvSpPr>
          <p:spPr>
            <a:xfrm>
              <a:off x="0" y="3657600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Performance Analytics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9CCAB82-DF8F-DC7D-25E8-91E439AAD71E}"/>
                </a:ext>
              </a:extLst>
            </p:cNvPr>
            <p:cNvSpPr/>
            <p:nvPr/>
          </p:nvSpPr>
          <p:spPr>
            <a:xfrm>
              <a:off x="0" y="0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Raw Datasets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9CC28B3-6B9A-4D48-7C7E-64D5F9D25C92}"/>
                </a:ext>
              </a:extLst>
            </p:cNvPr>
            <p:cNvSpPr/>
            <p:nvPr/>
          </p:nvSpPr>
          <p:spPr>
            <a:xfrm>
              <a:off x="0" y="2179675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SQLite Database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AE44C63-35B8-2889-D8B5-BA4FF1572369}"/>
                </a:ext>
              </a:extLst>
            </p:cNvPr>
            <p:cNvSpPr/>
            <p:nvPr/>
          </p:nvSpPr>
          <p:spPr>
            <a:xfrm>
              <a:off x="0" y="5847907"/>
              <a:ext cx="2519680" cy="6858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Insights &amp; Recommendations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4FD17DE-2AB7-403F-CBE4-FBD190F96CF2}"/>
                </a:ext>
              </a:extLst>
            </p:cNvPr>
            <p:cNvSpPr/>
            <p:nvPr/>
          </p:nvSpPr>
          <p:spPr>
            <a:xfrm>
              <a:off x="0" y="2955852"/>
              <a:ext cx="2519680" cy="5397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EDA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280910E-0725-A9CF-483F-CB9775E2945B}"/>
                </a:ext>
              </a:extLst>
            </p:cNvPr>
            <p:cNvSpPr/>
            <p:nvPr/>
          </p:nvSpPr>
          <p:spPr>
            <a:xfrm>
              <a:off x="0" y="4369982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Advanced Analytics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FC2B44A-491F-9105-BC14-BA8E11C8CABA}"/>
                </a:ext>
              </a:extLst>
            </p:cNvPr>
            <p:cNvSpPr/>
            <p:nvPr/>
          </p:nvSpPr>
          <p:spPr>
            <a:xfrm>
              <a:off x="0" y="5114261"/>
              <a:ext cx="2520000" cy="54000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Power BI Dashboard</a:t>
              </a:r>
              <a:endParaRPr lang="en-IN" sz="1200" kern="100">
                <a:effectLst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Total Datasets: </a:t>
            </a:r>
            <a:r>
              <a:rPr lang="en-IN" b="1" dirty="0"/>
              <a:t>10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Mutual Fund Master Data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NAV History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Scheme Performance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Investor Transactions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Portfolio Holdings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Benchmark &amp; Industry Statistics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BF1F5-3929-9975-45B3-02EF3589C048}"/>
              </a:ext>
            </a:extLst>
          </p:cNvPr>
          <p:cNvSpPr txBox="1"/>
          <p:nvPr/>
        </p:nvSpPr>
        <p:spPr>
          <a:xfrm>
            <a:off x="447368" y="444598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+mj-lt"/>
              </a:rPr>
              <a:t>Key Information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CA77EC-D78A-F1D3-182F-4185D7FF2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076428"/>
              </p:ext>
            </p:extLst>
          </p:nvPr>
        </p:nvGraphicFramePr>
        <p:xfrm>
          <a:off x="1028802" y="1311070"/>
          <a:ext cx="7543800" cy="2756844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336595577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494394081"/>
                    </a:ext>
                  </a:extLst>
                </a:gridCol>
              </a:tblGrid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5583394"/>
                  </a:ext>
                </a:extLst>
              </a:tr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Fund Master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007914"/>
                  </a:ext>
                </a:extLst>
              </a:tr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NAV 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46,000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047470"/>
                  </a:ext>
                </a:extLst>
              </a:tr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32,778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166415"/>
                  </a:ext>
                </a:extLst>
              </a:tr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Holdings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136816"/>
                  </a:ext>
                </a:extLst>
              </a:tr>
              <a:tr h="4594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Benchmark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8,050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53102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1ECF704-C695-56CB-30E3-6903C2E299B6}"/>
              </a:ext>
            </a:extLst>
          </p:cNvPr>
          <p:cNvSpPr txBox="1"/>
          <p:nvPr/>
        </p:nvSpPr>
        <p:spPr>
          <a:xfrm>
            <a:off x="447368" y="4369311"/>
            <a:ext cx="84606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Comprehensive dataset covering mutual fund performance, investor transactions, and portfolio holdings.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The datasets provide a strong foundation for analytics, visualization, and investment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14123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Data Ingestion &amp;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260099"/>
          </a:xfrm>
        </p:spPr>
        <p:txBody>
          <a:bodyPr>
            <a:normAutofit/>
          </a:bodyPr>
          <a:lstStyle/>
          <a:p>
            <a:pPr>
              <a:defRPr sz="2200"/>
            </a:pPr>
            <a:r>
              <a:rPr lang="en-IN" b="1" dirty="0"/>
              <a:t>Data Ingestion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Imported all CSV datasets using Pandas.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Validated dataset structure using </a:t>
            </a:r>
            <a:r>
              <a:rPr lang="en-IN" sz="2200" dirty="0"/>
              <a:t>head()</a:t>
            </a:r>
            <a:r>
              <a:rPr lang="en-IN" dirty="0"/>
              <a:t>, </a:t>
            </a:r>
            <a:r>
              <a:rPr lang="en-IN" sz="2200" dirty="0"/>
              <a:t>shape()</a:t>
            </a:r>
            <a:r>
              <a:rPr lang="en-IN" dirty="0"/>
              <a:t>, and </a:t>
            </a:r>
            <a:r>
              <a:rPr lang="en-IN" sz="2200" dirty="0"/>
              <a:t>info()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 Verified data consistency before preprocessing.</a:t>
            </a:r>
          </a:p>
          <a:p>
            <a:pPr marL="0" indent="0">
              <a:buNone/>
              <a:defRPr sz="2200"/>
            </a:pPr>
            <a:r>
              <a:rPr lang="en-IN" b="1" dirty="0"/>
              <a:t> Data Cleaning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Removed invalid and inconsistent records.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Converted date columns to datetime format.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Validated numerical fields.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Exported cleaned datasets for further analysis.</a:t>
            </a:r>
            <a:endParaRPr lang="en-IN" b="1" dirty="0"/>
          </a:p>
          <a:p>
            <a:pPr marL="0" indent="0">
              <a:buNone/>
              <a:defRPr sz="2200"/>
            </a:pPr>
            <a:endParaRPr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Exploratory Data Analysis</a:t>
            </a:r>
            <a:r>
              <a:rPr lang="en-US" sz="3000" b="1" dirty="0"/>
              <a:t>(EDA)</a:t>
            </a:r>
            <a:endParaRPr sz="3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387918"/>
          </a:xfrm>
        </p:spPr>
        <p:txBody>
          <a:bodyPr>
            <a:normAutofit lnSpcReduction="10000"/>
          </a:bodyPr>
          <a:lstStyle/>
          <a:p>
            <a:pPr>
              <a:defRPr sz="2200"/>
            </a:pPr>
            <a:r>
              <a:rPr lang="en-IN" b="1" dirty="0"/>
              <a:t>Key Analyses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Daily NAV Trend Analysis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Fund House Analysis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Risk Category Analysis</a:t>
            </a:r>
          </a:p>
          <a:p>
            <a:pPr marL="0" indent="0">
              <a:buNone/>
              <a:defRPr sz="2200"/>
            </a:pPr>
            <a:r>
              <a:rPr lang="en-IN" b="1" dirty="0"/>
              <a:t> Key Findings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Most mutual fund schemes showed positive long-term NAV growth.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Multiple leading AMCs were represented in the dataset.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sz="1800" dirty="0"/>
              <a:t>Most schemes belonged to Moderate and High-risk categories.</a:t>
            </a:r>
          </a:p>
          <a:p>
            <a:pPr marL="0" indent="0">
              <a:buNone/>
              <a:defRPr sz="2200"/>
            </a:pPr>
            <a:r>
              <a:rPr lang="en-IN" b="1" dirty="0"/>
              <a:t>Outcome:</a:t>
            </a:r>
          </a:p>
          <a:p>
            <a:pPr marL="292608" lvl="1" indent="457200" algn="just">
              <a:buNone/>
              <a:defRPr sz="2200"/>
            </a:pPr>
            <a:r>
              <a:rPr lang="en-IN" sz="1900" dirty="0"/>
              <a:t>EDA helped identify key trends, fund characteristics, and investment    patterns, providing the foundation for further performance analysis.</a:t>
            </a:r>
            <a:endParaRPr lang="en-IN" sz="1900" b="1" dirty="0"/>
          </a:p>
          <a:p>
            <a:pPr marL="0" indent="0">
              <a:buNone/>
              <a:defRPr sz="2200"/>
            </a:pPr>
            <a:endParaRPr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3817867" cy="2224821"/>
          </a:xfrm>
        </p:spPr>
        <p:txBody>
          <a:bodyPr/>
          <a:lstStyle/>
          <a:p>
            <a:pPr>
              <a:defRPr sz="2200"/>
            </a:pPr>
            <a:r>
              <a:rPr lang="en-IN" b="1" dirty="0"/>
              <a:t>Metrics Analyzed                                         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US" dirty="0"/>
              <a:t>Return Analysis                                       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US" dirty="0"/>
              <a:t>Risk-Adjusted Performance                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US" dirty="0"/>
              <a:t>Volatility Analysis                            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B7781-134E-8E66-F5F8-946994898CDF}"/>
              </a:ext>
            </a:extLst>
          </p:cNvPr>
          <p:cNvSpPr txBox="1"/>
          <p:nvPr/>
        </p:nvSpPr>
        <p:spPr>
          <a:xfrm>
            <a:off x="4734232" y="1754295"/>
            <a:ext cx="457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Key Insights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Higher long-term returns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Better risk-adjusted funds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Lower volatility in debt funds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b="1" dirty="0"/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11835-1612-B494-A092-61434554D6F4}"/>
              </a:ext>
            </a:extLst>
          </p:cNvPr>
          <p:cNvSpPr txBox="1"/>
          <p:nvPr/>
        </p:nvSpPr>
        <p:spPr>
          <a:xfrm>
            <a:off x="406563" y="4436496"/>
            <a:ext cx="772471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Outcome</a:t>
            </a:r>
            <a:r>
              <a:rPr lang="en-IN" dirty="0"/>
              <a:t>: </a:t>
            </a:r>
          </a:p>
          <a:p>
            <a:endParaRPr lang="en-IN" dirty="0"/>
          </a:p>
          <a:p>
            <a:pPr indent="457200"/>
            <a:r>
              <a:rPr lang="en-IN" sz="2000" dirty="0"/>
              <a:t>Performance analytics enabled comparison of mutual fund schemes based on returns, risk, and stability, helping identify better investment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271" y="1845734"/>
            <a:ext cx="4001729" cy="2862322"/>
          </a:xfrm>
        </p:spPr>
        <p:txBody>
          <a:bodyPr>
            <a:normAutofit/>
          </a:bodyPr>
          <a:lstStyle/>
          <a:p>
            <a:pPr marL="0" indent="0">
              <a:buNone/>
              <a:defRPr sz="2200"/>
            </a:pPr>
            <a:r>
              <a:rPr lang="en-IN" b="1" dirty="0"/>
              <a:t>Techniques Used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Sharpe Ratio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Value at Risk (VaR)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Conditional Value at Risk (CVaR)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Mutual Fund Recommendation System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8D71F0-C49A-BC69-E684-FB08F15D9F4E}"/>
              </a:ext>
            </a:extLst>
          </p:cNvPr>
          <p:cNvSpPr txBox="1"/>
          <p:nvPr/>
        </p:nvSpPr>
        <p:spPr>
          <a:xfrm>
            <a:off x="4763730" y="1843003"/>
            <a:ext cx="40017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Key Insights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Better risk-adjusted returns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Estimated downside risk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Extreme loss analysis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Personalized fund selection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F26DB-D6CD-F6BD-23D1-05E78DF10648}"/>
              </a:ext>
            </a:extLst>
          </p:cNvPr>
          <p:cNvSpPr txBox="1"/>
          <p:nvPr/>
        </p:nvSpPr>
        <p:spPr>
          <a:xfrm>
            <a:off x="353961" y="4924018"/>
            <a:ext cx="84926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Outcome: </a:t>
            </a:r>
          </a:p>
          <a:p>
            <a:pPr indent="457200"/>
            <a:r>
              <a:rPr lang="en-IN" sz="2000" dirty="0"/>
              <a:t>Advanced analytics provided deeper insights into fund performance, investment risk, and personalized mutual fund recommendations.</a:t>
            </a:r>
            <a:endParaRPr lang="en-IN" sz="20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Power BI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1338EE-73DE-D386-B5A8-2C3579A30D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690" y="2565914"/>
            <a:ext cx="8224683" cy="36472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CF95BD-816D-A881-8F88-3E5D9A763437}"/>
              </a:ext>
            </a:extLst>
          </p:cNvPr>
          <p:cNvSpPr txBox="1"/>
          <p:nvPr/>
        </p:nvSpPr>
        <p:spPr>
          <a:xfrm>
            <a:off x="683341" y="1839666"/>
            <a:ext cx="8087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 interactive Power BI dashboard was developed to visualize mutual fund performance, portfolio statistics, and investment trends.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73CAF-FBDB-5688-D4BC-06895D954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88670"/>
            <a:ext cx="8229600" cy="486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9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D47164-F34C-F116-3849-0A091679E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88" y="410064"/>
            <a:ext cx="8636444" cy="4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E9CEA6-2E08-5D8F-52B4-DE48051C75E7}"/>
              </a:ext>
            </a:extLst>
          </p:cNvPr>
          <p:cNvSpPr txBox="1"/>
          <p:nvPr/>
        </p:nvSpPr>
        <p:spPr>
          <a:xfrm>
            <a:off x="165288" y="5524882"/>
            <a:ext cx="86364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Interactive dashboard developed using Power BI for mutual fund performance analysis.</a:t>
            </a:r>
          </a:p>
        </p:txBody>
      </p:sp>
    </p:spTree>
    <p:extLst>
      <p:ext uri="{BB962C8B-B14F-4D97-AF65-F5344CB8AC3E}">
        <p14:creationId xmlns:p14="http://schemas.microsoft.com/office/powerpoint/2010/main" val="2954098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86C606-C1D9-6216-ABFD-39C27BC22EF5}"/>
              </a:ext>
            </a:extLst>
          </p:cNvPr>
          <p:cNvSpPr txBox="1"/>
          <p:nvPr/>
        </p:nvSpPr>
        <p:spPr>
          <a:xfrm>
            <a:off x="410497" y="309961"/>
            <a:ext cx="832300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Dashboard Features 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Interactive KPI Cards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Fund-wise Performance Analysis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Risk Category Analysis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NAV Trend Visualization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Dynamic Filters and Slicers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/>
          </a:p>
          <a:p>
            <a:r>
              <a:rPr lang="en-IN" sz="2000" b="1" dirty="0"/>
              <a:t> Key Insights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Identified top-performing mutual fund schemes.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Compared returns across fund categories.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Simplified investment analysis through interactive visuals.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60895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A8E1AA-79DB-0DE5-12EF-EFFF945CE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805809"/>
              </p:ext>
            </p:extLst>
          </p:nvPr>
        </p:nvGraphicFramePr>
        <p:xfrm>
          <a:off x="910815" y="2030792"/>
          <a:ext cx="7535094" cy="2956560"/>
        </p:xfrm>
        <a:graphic>
          <a:graphicData uri="http://schemas.openxmlformats.org/drawingml/2006/table">
            <a:tbl>
              <a:tblPr/>
              <a:tblGrid>
                <a:gridCol w="3771900">
                  <a:extLst>
                    <a:ext uri="{9D8B030D-6E8A-4147-A177-3AD203B41FA5}">
                      <a16:colId xmlns:a16="http://schemas.microsoft.com/office/drawing/2014/main" val="3803650913"/>
                    </a:ext>
                  </a:extLst>
                </a:gridCol>
                <a:gridCol w="3763194">
                  <a:extLst>
                    <a:ext uri="{9D8B030D-6E8A-4147-A177-3AD203B41FA5}">
                      <a16:colId xmlns:a16="http://schemas.microsoft.com/office/drawing/2014/main" val="6770533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85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Processing &amp;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591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Cleaning &amp; Manipulation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47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SQLite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Management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25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Querying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76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BI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 &amp; Visualization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668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Git &amp; GitHub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Version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176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Jupyter Notebook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Development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38521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BA2594-1347-05B8-7229-CC9C60C93E4A}"/>
              </a:ext>
            </a:extLst>
          </p:cNvPr>
          <p:cNvSpPr txBox="1"/>
          <p:nvPr/>
        </p:nvSpPr>
        <p:spPr>
          <a:xfrm>
            <a:off x="822959" y="5242753"/>
            <a:ext cx="76229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Integrated modern data analytics tools to build an end-to-end Mutual Fund Analytics Platform.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116" y="2012882"/>
            <a:ext cx="8308257" cy="18413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Successfully developed an end-to-end Mutual Fund Analytics Platform. 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Automated data ingestion, cleaning, analysis, and visualization.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 Built an interactive Power BI dashboard for investment insights.</a:t>
            </a:r>
          </a:p>
          <a:p>
            <a:pPr>
              <a:buFont typeface="Wingdings" panose="05000000000000000000" pitchFamily="2" charset="2"/>
              <a:buChar char="Ø"/>
              <a:defRPr sz="2200"/>
            </a:pPr>
            <a:r>
              <a:rPr lang="en-IN" dirty="0"/>
              <a:t> Applied advanced analytics to evaluate mutual fund performance.</a:t>
            </a:r>
          </a:p>
          <a:p>
            <a:pPr marL="0" indent="0">
              <a:buNone/>
              <a:defRPr sz="2200"/>
            </a:pPr>
            <a:r>
              <a:rPr lang="en-IN" sz="2200" dirty="0"/>
              <a:t>  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2A9C5-C942-F00A-CD16-CBD23232A557}"/>
              </a:ext>
            </a:extLst>
          </p:cNvPr>
          <p:cNvSpPr txBox="1"/>
          <p:nvPr/>
        </p:nvSpPr>
        <p:spPr>
          <a:xfrm>
            <a:off x="186815" y="3616741"/>
            <a:ext cx="849506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  Future Scope </a:t>
            </a:r>
          </a:p>
          <a:p>
            <a:endParaRPr lang="en-IN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Integrate live NAV data using APIs.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Apply Machine Learning for return prediction.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Enhance the recommendation system using AI.</a:t>
            </a:r>
          </a:p>
          <a:p>
            <a:endParaRPr lang="en-IN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dirty="0"/>
              <a:t>Deploy the platform as a web application. </a:t>
            </a:r>
          </a:p>
          <a:p>
            <a:endParaRPr lang="en-IN" sz="20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7B51E6-11F2-43F3-81F9-38EA660B8282}"/>
              </a:ext>
            </a:extLst>
          </p:cNvPr>
          <p:cNvSpPr txBox="1"/>
          <p:nvPr/>
        </p:nvSpPr>
        <p:spPr>
          <a:xfrm>
            <a:off x="245806" y="2751891"/>
            <a:ext cx="809194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/>
              <a:t>Thank You!</a:t>
            </a:r>
          </a:p>
          <a:p>
            <a:pPr algn="ctr"/>
            <a:endParaRPr lang="en-IN" dirty="0"/>
          </a:p>
          <a:p>
            <a:pPr algn="ctr"/>
            <a:r>
              <a:rPr lang="en-IN" sz="2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107917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147</TotalTime>
  <Words>662</Words>
  <Application>Microsoft Office PowerPoint</Application>
  <PresentationFormat>On-screen Show (4:3)</PresentationFormat>
  <Paragraphs>164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Times New Roman</vt:lpstr>
      <vt:lpstr>Wingdings</vt:lpstr>
      <vt:lpstr>Retrospect</vt:lpstr>
      <vt:lpstr>Mutual Fund Analytics Platform</vt:lpstr>
      <vt:lpstr>Problem Statement</vt:lpstr>
      <vt:lpstr>Objectives</vt:lpstr>
      <vt:lpstr>Project Architecture</vt:lpstr>
      <vt:lpstr>Dataset Overview</vt:lpstr>
      <vt:lpstr>PowerPoint Presentation</vt:lpstr>
      <vt:lpstr>Data Ingestion &amp; Cleaning</vt:lpstr>
      <vt:lpstr>Exploratory Data Analysis(EDA)</vt:lpstr>
      <vt:lpstr>Performance Analytics</vt:lpstr>
      <vt:lpstr>Advanced Analytics</vt:lpstr>
      <vt:lpstr>Power BI Dashboard</vt:lpstr>
      <vt:lpstr>PowerPoint Presentation</vt:lpstr>
      <vt:lpstr>PowerPoint Presentation</vt:lpstr>
      <vt:lpstr>PowerPoint Presentation</vt:lpstr>
      <vt:lpstr>Technologies Used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Revanth Peethala</cp:lastModifiedBy>
  <cp:revision>16</cp:revision>
  <dcterms:created xsi:type="dcterms:W3CDTF">2013-01-27T09:14:16Z</dcterms:created>
  <dcterms:modified xsi:type="dcterms:W3CDTF">2026-07-10T11:38:49Z</dcterms:modified>
  <cp:category/>
</cp:coreProperties>
</file>